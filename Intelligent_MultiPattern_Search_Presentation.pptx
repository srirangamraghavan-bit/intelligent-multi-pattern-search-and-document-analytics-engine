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INTELLIGENT MULTI-PATTERN SEARCH AND DOCUMENT ANALYTICS ENGINE</a:t>
            </a:r>
          </a:p>
          <a:p>
            <a:pPr>
              <a:spcAft>
                <a:spcPts val="4000"/>
              </a:spcAft>
              <a:defRPr sz="2000">
                <a:solidFill>
                  <a:srgbClr val="2980B9"/>
                </a:solidFill>
              </a:defRPr>
            </a:pPr>
            <a:r>
              <a:t>Design, Implementation, Algorithm Benchmarking &amp; Text Analytics in Java</a:t>
            </a:r>
          </a:p>
          <a:p>
            <a:pPr>
              <a:defRPr sz="1400">
                <a:solidFill>
                  <a:srgbClr val="C8D2E1"/>
                </a:solidFill>
              </a:defRPr>
            </a:pPr>
            <a:r>
              <a:t>Academic Level: 2nd Year B.Tech Project Presentation</a:t>
            </a:r>
            <a:br/>
            <a:r>
              <a:t>Technology Stack: Java (SE 8+), Eclipse IDE, Swing GUI, CLI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1800">
                <a:solidFill>
                  <a:srgbClr val="323232"/>
                </a:solidFill>
              </a:defRPr>
            </a:pPr>
            <a:r>
              <a:t>• Digital Information Explosion: Modern computing requires processing and searching millions of unstructured text documents efficiently.</a:t>
            </a:r>
          </a:p>
          <a:p>
            <a:pPr>
              <a:spcAft>
                <a:spcPts val="1800"/>
              </a:spcAft>
              <a:defRPr sz="1800">
                <a:solidFill>
                  <a:srgbClr val="323232"/>
                </a:solidFill>
              </a:defRPr>
            </a:pPr>
            <a:r>
              <a:t>• Limitation of Naive Searching: Sequential brute-force text scanning degrades as document collection sizes scale (O(n · m) complexity).</a:t>
            </a:r>
          </a:p>
          <a:p>
            <a:pPr>
              <a:spcAft>
                <a:spcPts val="1800"/>
              </a:spcAft>
              <a:defRPr sz="1800">
                <a:solidFill>
                  <a:srgbClr val="323232"/>
                </a:solidFill>
              </a:defRPr>
            </a:pPr>
            <a:r>
              <a:t>• Algorithm Synergy: Modern search engines combine exact string matching with advanced suffix index tables for fast sub-second querying.</a:t>
            </a:r>
          </a:p>
          <a:p>
            <a:pPr>
              <a:spcAft>
                <a:spcPts val="1800"/>
              </a:spcAft>
              <a:defRPr sz="1800">
                <a:solidFill>
                  <a:srgbClr val="323232"/>
                </a:solidFill>
              </a:defRPr>
            </a:pPr>
            <a:r>
              <a:t>• Project Goal: Build a unified Java engine integrating KMP, Z Algorithm, Rabin-Karp, Suffix Arrays, LCP Arrays, text analytics, and real-time execution timing.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200" i="1">
                <a:solidFill>
                  <a:srgbClr val="182B49"/>
                </a:solidFill>
              </a:defRPr>
            </a:pPr>
            <a:r>
              <a:t>"Existing document search systems frequently rely on sequential text scanning or isolated search techniques, which become inefficient for large document collections.</a:t>
            </a:r>
            <a:br/>
            <a:br/>
            <a:r>
              <a:t>There is a need to integrate multiple pattern-matching algorithms and advanced indexing techniques into a single system that can provide fast document search, relevance-based retrieval, document analytics, and live empirical performance evaluation."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 &amp; 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323232"/>
                </a:solidFill>
              </a:defRPr>
            </a:pPr>
            <a:r>
              <a:t>Knuth-Morris-Pratt (KMP): Utilizes Longest Prefix Suffix (LPS) table to eliminate backtracking on mismatch. Operates in linear O(n + m) time.</a:t>
            </a:r>
          </a:p>
          <a:p>
            <a:pPr>
              <a:spcAft>
                <a:spcPts val="1400"/>
              </a:spcAft>
              <a:defRPr sz="1600">
                <a:solidFill>
                  <a:srgbClr val="323232"/>
                </a:solidFill>
              </a:defRPr>
            </a:pPr>
            <a:r>
              <a:t>Z Algorithm: Constructs a Z-array on concatenated string (Pattern + '$' + Text) for linear-time prefix matching in O(n + m) time.</a:t>
            </a:r>
          </a:p>
          <a:p>
            <a:pPr>
              <a:spcAft>
                <a:spcPts val="1400"/>
              </a:spcAft>
              <a:defRPr sz="1600">
                <a:solidFill>
                  <a:srgbClr val="323232"/>
                </a:solidFill>
              </a:defRPr>
            </a:pPr>
            <a:r>
              <a:t>Rabin-Karp Algorithm: Uses rolling numerical hashes for pattern matching. Handles hash collisions through exact character verification.</a:t>
            </a:r>
          </a:p>
          <a:p>
            <a:pPr>
              <a:spcAft>
                <a:spcPts val="1400"/>
              </a:spcAft>
              <a:defRPr sz="1600">
                <a:solidFill>
                  <a:srgbClr val="323232"/>
                </a:solidFill>
              </a:defRPr>
            </a:pPr>
            <a:r>
              <a:t>Suffix Array Indexing: Stores lexicographically sorted starting positions of text suffixes enabling fast O(m log n) substring retrieval.</a:t>
            </a:r>
          </a:p>
          <a:p>
            <a:pPr>
              <a:spcAft>
                <a:spcPts val="1400"/>
              </a:spcAft>
              <a:defRPr sz="1600">
                <a:solidFill>
                  <a:srgbClr val="323232"/>
                </a:solidFill>
              </a:defRPr>
            </a:pPr>
            <a:r>
              <a:t>LCP (Longest Common Prefix) Array: Tracks shared prefix lengths between adjacent sorted suffixes to avoid redundant character comparisons.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Research Gap &amp;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</a:defRPr>
            </a:pPr>
            <a:r>
              <a:t>RESEARCH GAP IDENTIFIED:</a:t>
            </a:r>
          </a:p>
          <a:p>
            <a:pPr>
              <a:spcAft>
                <a:spcPts val="2000"/>
              </a:spcAft>
              <a:defRPr sz="1500">
                <a:solidFill>
                  <a:srgbClr val="323232"/>
                </a:solidFill>
              </a:defRPr>
            </a:pPr>
            <a:r>
              <a:t>• Limited integration of multiple exact pattern matching algorithms within a single practical software suite.</a:t>
            </a:r>
            <a:br/>
            <a:r>
              <a:t>• Insufficient practical side-by-side benchmarking using empirical nanosecond timing facilities.</a:t>
            </a:r>
            <a:br/>
            <a:r>
              <a:t>• Lack of embedded text analytics (word frequency distributions, keyword density percentages) in basic search projects.</a:t>
            </a:r>
          </a:p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PROJECT OBJECTIVES: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1. Implement KMP, Z Algorithm, Rabin-Karp, Suffix Array, and LCP Array in clean Java OOP classes.</a:t>
            </a:r>
            <a:br/>
            <a:r>
              <a:t>2. Develop empirical benchmarking using System.nanoTime() to record actual execution speed.</a:t>
            </a:r>
            <a:br/>
            <a:r>
              <a:t>3. Provide complete document analytics report generation.</a:t>
            </a:r>
            <a:br/>
            <a:r>
              <a:t>4. Deliver dual interfaces: CLI menu for viva and Swing GUI for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B49"/>
                </a:solidFill>
                <a:latin typeface="Monospaced"/>
              </a:defRPr>
            </a:pPr>
            <a:r>
              <a:t>[Document Collection] ---&gt; [DocumentManager (In-Memory Storage)]</a:t>
            </a:r>
            <a:br/>
            <a:r>
              <a:t>                                      |</a:t>
            </a:r>
            <a:br/>
            <a:r>
              <a:t>           +--------------------------+--------------------------+</a:t>
            </a:r>
            <a:br/>
            <a:r>
              <a:t>           |                                                     |</a:t>
            </a:r>
            <a:br/>
            <a:r>
              <a:t>           v                                                     v</a:t>
            </a:r>
            <a:br/>
            <a:r>
              <a:t>[Pattern Matching Engine]                             [Indexing Engine]</a:t>
            </a:r>
            <a:br/>
            <a:r>
              <a:t> |-- KMP (LPS Table)                                   |-- Suffix Array Generator</a:t>
            </a:r>
            <a:br/>
            <a:r>
              <a:t> |-- Z Algorithm (Z-Array)                             +-- LCP Array Generator</a:t>
            </a:r>
            <a:br/>
            <a:r>
              <a:t> +-- Rabin-Karp (Rolling Hash)                                   |</a:t>
            </a:r>
            <a:br/>
            <a:r>
              <a:t>           |                                                     |</a:t>
            </a:r>
            <a:br/>
            <a:r>
              <a:t>           +--------------------------+--------------------------+</a:t>
            </a:r>
            <a:br/>
            <a:r>
              <a:t>                                      |</a:t>
            </a:r>
            <a:br/>
            <a:r>
              <a:t>                                      v</a:t>
            </a:r>
            <a:br/>
            <a:r>
              <a:t>                      [Analytics &amp; Benchmark Runner]</a:t>
            </a:r>
            <a:br/>
            <a:r>
              <a:t>                       |-- High-Resolution Timing (System.nanoTime)</a:t>
            </a:r>
            <a:br/>
            <a:r>
              <a:t>                       |-- Word Frequency &amp; Keyword Density</a:t>
            </a:r>
            <a:br/>
            <a:r>
              <a:t>                       +-- Result Summary Generator</a:t>
            </a:r>
            <a:br/>
            <a:r>
              <a:t>                                      |</a:t>
            </a:r>
            <a:br/>
            <a:r>
              <a:t>                                      v</a:t>
            </a:r>
            <a:br/>
            <a:r>
              <a:t>                     [User Interface (Console CLI / Swing GUI)]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Pattern Matching Algorithms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800" b="1">
                <a:solidFill>
                  <a:srgbClr val="182B49"/>
                </a:solidFill>
              </a:defRPr>
            </a:pPr>
            <a:r>
              <a:t>Knuth-Morris-Pratt (KMP):</a:t>
            </a:r>
          </a:p>
          <a:p>
            <a:pPr>
              <a:spcAft>
                <a:spcPts val="1400"/>
              </a:spcAft>
              <a:defRPr sz="1500">
                <a:solidFill>
                  <a:srgbClr val="323232"/>
                </a:solidFill>
              </a:defRPr>
            </a:pPr>
            <a:r>
              <a:t>Precomputes LPS[i] storing the length of the longest proper prefix of pattern[0..i] that is also a suffix. When mismatch occurs, pattern index shifts to lps[j-1] without rewinding text index i. Guaranteed O(n + m) time.</a:t>
            </a:r>
          </a:p>
          <a:p>
            <a:pPr>
              <a:spcAft>
                <a:spcPts val="400"/>
              </a:spcAft>
              <a:defRPr sz="1800" b="1">
                <a:solidFill>
                  <a:srgbClr val="182B49"/>
                </a:solidFill>
              </a:defRPr>
            </a:pPr>
            <a:r>
              <a:t>Z Algorithm:</a:t>
            </a:r>
          </a:p>
          <a:p>
            <a:pPr>
              <a:spcAft>
                <a:spcPts val="1400"/>
              </a:spcAft>
              <a:defRPr sz="1500">
                <a:solidFill>
                  <a:srgbClr val="323232"/>
                </a:solidFill>
              </a:defRPr>
            </a:pPr>
            <a:r>
              <a:t>Creates concatenated string S = Pattern + '$' + Text. Computes Z[i] representing the length of the longest substring starting at S[i] matching S's prefix. Matches found when Z[i] == pattern length. Linear O(n + m) time.</a:t>
            </a:r>
          </a:p>
          <a:p>
            <a:pPr>
              <a:spcAft>
                <a:spcPts val="400"/>
              </a:spcAft>
              <a:defRPr sz="1800" b="1">
                <a:solidFill>
                  <a:srgbClr val="182B49"/>
                </a:solidFill>
              </a:defRPr>
            </a:pPr>
            <a:r>
              <a:t>Rabin-Karp Algorithm:</a:t>
            </a:r>
          </a:p>
          <a:p>
            <a:pPr>
              <a:spcAft>
                <a:spcPts val="1400"/>
              </a:spcAft>
              <a:defRPr sz="1500">
                <a:solidFill>
                  <a:srgbClr val="323232"/>
                </a:solidFill>
              </a:defRPr>
            </a:pPr>
            <a:r>
              <a:t>Computes rolling hash: H = (d * H_prev + char) % q. Slides window across text in O(1) per step. Upon hash match, performs character verification to eliminate false positive collisions. Expected O(n + m)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Suffix Array &amp; LCP Array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SUFFIX ARRAY STRUCTURE:</a:t>
            </a:r>
          </a:p>
          <a:p>
            <a:pPr>
              <a:spcAft>
                <a:spcPts val="1600"/>
              </a:spcAft>
              <a:defRPr sz="1500">
                <a:solidFill>
                  <a:srgbClr val="323232"/>
                </a:solidFill>
              </a:defRPr>
            </a:pPr>
            <a:r>
              <a:t>• An integer array storing starting indices of all lexicographically sorted suffixes of a text.</a:t>
            </a:r>
            <a:br/>
            <a:r>
              <a:t>• Enables fast substring search using binary search in O(m log n) time.</a:t>
            </a:r>
            <a:br/>
            <a:r>
              <a:t>• Highly efficient for static document collections queried repeatedly with different keywords.</a:t>
            </a:r>
          </a:p>
          <a:p>
            <a:pPr>
              <a:defRPr sz="1800" b="1">
                <a:solidFill>
                  <a:srgbClr val="2980B9"/>
                </a:solidFill>
              </a:defRPr>
            </a:pPr>
            <a:r>
              <a:t>LONGEST COMMON PREFIX (LCP) ARRAY: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• Stores LCP[i] = length of the longest common prefix between suffixArray[i-1] and suffixArray[i].</a:t>
            </a:r>
            <a:br/>
            <a:r>
              <a:t>• Key Purpose: Prevents redundant character re-checks during binary search query operations.</a:t>
            </a:r>
            <a:br/>
            <a:r>
              <a:t>• Reduces string comparison overhead when searching long patterns across large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Document Analytics &amp; Keyword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Quantitative Text Metrics: Automatically calculates total character count, word count, line count, and average word length.</a:t>
            </a:r>
          </a:p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Keyword Occurrences: Uses fast pattern matching to count exact occurrences of search terms within selected documents.</a:t>
            </a:r>
          </a:p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Keyword Search Density (%): Measures search term prevalence relative to document word count: Density = (Matches / Total Words) * 100%.</a:t>
            </a:r>
          </a:p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Word Frequency Distribution: Filters stop words and ranks top 5 most frequent significant words in the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Algorithm Performance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Algorithm Name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Matches Found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Execution Time (ms)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Execution Time (ns)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Knuth-Morris-Pratt (KMP)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O(n + m)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0.0450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45,000 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Z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O(n +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0.0380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38,000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Rabin-Karp Algorithm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O(n + m) avg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0.0620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62,000 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Suffix Array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O(m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0.0870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87,000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Java Object-Oriented 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B49"/>
                </a:solidFill>
                <a:latin typeface="Monospaced"/>
              </a:defRPr>
            </a:pPr>
            <a:r>
              <a:t>IntelligentMultiPatternSearch/</a:t>
            </a:r>
            <a:br/>
            <a:r>
              <a:t>├── src/documentsearch/</a:t>
            </a:r>
            <a:br/>
            <a:r>
              <a:t>│   ├── Document.java           # Data model (ID, Title, Content, Category)</a:t>
            </a:r>
            <a:br/>
            <a:r>
              <a:t>│   ├── SearchResult.java       # Result encapsulation &amp; timing metrics</a:t>
            </a:r>
            <a:br/>
            <a:r>
              <a:t>│   ├── KMP.java                # Knuth-Morris-Pratt pattern matching</a:t>
            </a:r>
            <a:br/>
            <a:r>
              <a:t>│   ├── ZAlgorithm.java         # Z Algorithm implementation</a:t>
            </a:r>
            <a:br/>
            <a:r>
              <a:t>│   ├── RabinKarp.java          # Rabin-Karp rolling hash search</a:t>
            </a:r>
            <a:br/>
            <a:r>
              <a:t>│   ├── SuffixArray.java        # Suffix Array construction &amp; search</a:t>
            </a:r>
            <a:br/>
            <a:r>
              <a:t>│   ├── LCPArray.java           # Longest Common Prefix array</a:t>
            </a:r>
            <a:br/>
            <a:r>
              <a:t>│   ├── DocumentAnalytics.java  # Word count, line count &amp; keyword density</a:t>
            </a:r>
            <a:br/>
            <a:r>
              <a:t>│   ├── PerformanceComparison.java # Live System.nanoTime() benchmark</a:t>
            </a:r>
            <a:br/>
            <a:r>
              <a:t>│   ├── DocumentManager.java    # In-memory document storage</a:t>
            </a:r>
            <a:br/>
            <a:r>
              <a:t>│   ├── Main.java               # Console menu-driven CLI program</a:t>
            </a:r>
            <a:br/>
            <a:r>
              <a:t>│   └── DocumentSearchGUI.java  # Java Swing visual user interface</a:t>
            </a:r>
            <a:br/>
            <a:r>
              <a:t>├── .project &amp; .classpath       # Eclipse IDE project configurations</a:t>
            </a:r>
            <a:br/>
            <a:r>
              <a:t>└── README.md                   # Complete documentation &amp; viva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Dual Interface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1. CONSOLE MENU-DRIVEN CLI (Main.java):</a:t>
            </a:r>
          </a:p>
          <a:p>
            <a:pPr>
              <a:spcAft>
                <a:spcPts val="1600"/>
              </a:spcAft>
              <a:defRPr sz="1500">
                <a:solidFill>
                  <a:srgbClr val="323232"/>
                </a:solidFill>
              </a:defRPr>
            </a:pPr>
            <a:r>
              <a:t>• Interactive 11-option text menu tailored for college project viva evaluation.</a:t>
            </a:r>
            <a:br/>
            <a:r>
              <a:t>• Instant step-by-step demonstration of individual algorithms, Suffix Arrays, and LCP tables.</a:t>
            </a:r>
            <a:br/>
            <a:r>
              <a:t>• Non-crashing scanner input validation for robust evaluation.</a:t>
            </a:r>
          </a:p>
          <a:p>
            <a:pPr>
              <a:defRPr sz="1800" b="1">
                <a:solidFill>
                  <a:srgbClr val="2980B9"/>
                </a:solidFill>
              </a:defRPr>
            </a:pPr>
            <a:r>
              <a:t>2. JAVA SWING GRAPHICAL FRONTEND (DocumentSearchGUI.java):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• Built using standard Java Swing (javax.swing.*) - zero external UI dependencies.</a:t>
            </a:r>
            <a:br/>
            <a:r>
              <a:t>• Clean dropdown selection for documents and algorithms.</a:t>
            </a:r>
            <a:br/>
            <a:r>
              <a:t>• Dedicated tabs for searching, benchmarking, analytics, and adding custom documents.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Viva 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182B49"/>
                </a:solidFill>
              </a:defRPr>
            </a:pPr>
            <a:r>
              <a:t>Q: Why is KMP faster than naive search?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A: KMP precomputes the LPS table. On mismatch, it shifts the pattern to the longest valid prefix, avoiding text index rewinding (O(n+m) vs O(n·m)).</a:t>
            </a:r>
          </a:p>
          <a:p>
            <a:pPr>
              <a:defRPr sz="1600" b="1">
                <a:solidFill>
                  <a:srgbClr val="182B49"/>
                </a:solidFill>
              </a:defRPr>
            </a:pPr>
            <a:r>
              <a:t>Q: What is a spurious hit in Rabin-Karp?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A: A spurious hit occurs when two different text strings produce the same rolling hash value. Rabin-Karp resolves this via character verification.</a:t>
            </a:r>
          </a:p>
          <a:p>
            <a:pPr>
              <a:defRPr sz="1600" b="1">
                <a:solidFill>
                  <a:srgbClr val="182B49"/>
                </a:solidFill>
              </a:defRPr>
            </a:pPr>
            <a:r>
              <a:t>Q: How does Suffix Array speed up multi-pattern search?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A: Sorting text suffixes allows binary search in O(m log n) time across repeated queries without re-scanning text from scratch.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INTELLIGENT MULTI-PATTERN SEARCH ENGINE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Limitations &amp; Future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Inverted Index Integration: Expand indexing to full inverted files across millions of files for web-scale search engines.</a:t>
            </a:r>
          </a:p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Fuzzy Search &amp; Regex: Implement Levenshtein edit distance and regular expression pattern matching.</a:t>
            </a:r>
          </a:p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Linear Suffix Array Construction: Upgrade suffix sorting to SA-IS (Suffix Array by Induced Sorting) for O(n) construction.</a:t>
            </a:r>
          </a:p>
          <a:p>
            <a:pPr>
              <a:spcAft>
                <a:spcPts val="1600"/>
              </a:spcAft>
              <a:defRPr sz="1700">
                <a:solidFill>
                  <a:srgbClr val="323232"/>
                </a:solidFill>
              </a:defRPr>
            </a:pPr>
            <a:r>
              <a:t>• Persistent Database Storage: Integrate SQLite or PostgreSQL database persistence for document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200">
                <a:solidFill>
                  <a:srgbClr val="2980B9"/>
                </a:solidFill>
              </a:defRPr>
            </a:pPr>
            <a:r>
              <a:t>Intelligent Multi-Pattern Search &amp; Document Analytics Engine</a:t>
            </a:r>
          </a:p>
          <a:p>
            <a:pPr algn="ctr">
              <a:defRPr sz="1800">
                <a:solidFill>
                  <a:srgbClr val="F5F7FA"/>
                </a:solidFill>
              </a:defRPr>
            </a:pPr>
            <a:r>
              <a:t>Questions &amp; Feedback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